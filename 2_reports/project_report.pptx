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7" autoAdjust="0"/>
    <p:restoredTop sz="94660"/>
  </p:normalViewPr>
  <p:slideViewPr>
    <p:cSldViewPr snapToGrid="0">
      <p:cViewPr>
        <p:scale>
          <a:sx n="66" d="100"/>
          <a:sy n="66" d="100"/>
        </p:scale>
        <p:origin x="-544" y="-2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36D4D-C1C4-4E90-838A-8551A754DFD0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59C276-F26F-4969-855F-7701B089B2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5766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9C276-F26F-4969-855F-7701B089B2A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6193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9C276-F26F-4969-855F-7701B089B2A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68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7CF44-5731-972B-D04A-6F989E4A6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44564E-A458-07F4-F4AA-A5A2071A1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B8C6C-5D7B-CC7F-4862-5E0003458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83A9-7F7A-413E-A2B3-5DC1A2003F90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4CE87-EDDD-D99D-7787-947853794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FF126-EDE7-1268-5AEF-C5A4972B1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8E7EC-02F5-4C64-98F1-D1D12D414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244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8D3FC-3C59-FBCD-3B87-7E7D4B9E9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D40FB-A0B9-E9C4-FBA2-9F3C3E77A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AE31F-1CE6-223D-8C25-9D170AD7B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83A9-7F7A-413E-A2B3-5DC1A2003F90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D12BE-E9A2-B496-C002-F0407AAA9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FCFAC-A16A-1396-BE2E-F6FE114F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8E7EC-02F5-4C64-98F1-D1D12D414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5401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9D647-C048-85C5-D794-2007A743F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B3A2A-1322-C1EC-31A4-3C837B1D4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CEA90-D709-8991-FBB3-F0348DBB5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83A9-7F7A-413E-A2B3-5DC1A2003F90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7D231-A7A0-E799-6BFA-6C9D6DA63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AD2AB-B657-7A80-9F0A-56997D359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8E7EC-02F5-4C64-98F1-D1D12D414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63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18BEF-D097-EC02-0D32-708E69148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73408-B394-4884-4DA6-7D4FA4B246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E3AD0-AF51-6C60-BC8F-D214C844F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5B627-4EF8-C073-9BE4-894F048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83A9-7F7A-413E-A2B3-5DC1A2003F90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51756-8A69-9D4D-51AF-CBFB0564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88BC9-8F2A-0C27-7A50-1A4F8E3B0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8E7EC-02F5-4C64-98F1-D1D12D414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085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D394-142A-51E6-BEE5-BA30DAD36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378C8-CC28-3E7E-8DC1-FEB9B902F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7A0E6D-7080-9E13-66C1-B0C10827A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2518C5-5783-3A85-375A-1090C26734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1E997E-4897-311D-503C-4A06476B7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6C6BE4-91BB-621F-E978-60619BA10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83A9-7F7A-413E-A2B3-5DC1A2003F90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803F89-833E-C75A-F692-D77F624AE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8980DF-9C45-0C9D-22C8-C78F1E5B7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8E7EC-02F5-4C64-98F1-D1D12D414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735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230BF-95DF-9104-0647-65B31BD15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A98314-FBA6-1277-1143-3BD9C7D6F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83A9-7F7A-413E-A2B3-5DC1A2003F90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EB49AD-EF27-4EEA-264A-85D8E9278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7C38-7C3D-6E5F-E81D-6F19EEF3C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8E7EC-02F5-4C64-98F1-D1D12D414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827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D3BD62-5755-C700-0899-067017A31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83A9-7F7A-413E-A2B3-5DC1A2003F90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9EE3F5-45A4-059C-D811-AB26A128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F5219-9EAF-1982-86B5-D22CC4594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8E7EC-02F5-4C64-98F1-D1D12D414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0259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23656-A188-7019-FD15-4FFCE4B29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785B6-E152-6C26-6D01-916CC314A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F5116-47B4-9C9E-C3DE-BF0298179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929EA9-700D-C3AC-F1BA-E026A657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83A9-7F7A-413E-A2B3-5DC1A2003F90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1BA91-2D31-54C8-E9A1-6601614B6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5523A-5BE6-9103-47D7-C171E92E6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8E7EC-02F5-4C64-98F1-D1D12D414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0125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218F4-8C05-7F07-6BEA-B8BED9245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4DE894-28B6-14A7-ABBF-2E5D6BB56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9842C-ACC5-5155-9641-109945141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C4745-4EAC-41E2-F8C1-B6F8EF46D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83A9-7F7A-413E-A2B3-5DC1A2003F90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B9F36-9A46-1890-4F0C-4CB1C18EA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2869-BA6B-63BD-18D4-803B16B8F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8E7EC-02F5-4C64-98F1-D1D12D414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458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81796-4237-A54B-20E1-85B1EBFF9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9DA98-1C28-7E79-A175-A8E262C96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DF3E4-0D68-47F9-E3AF-2075A6938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83A9-7F7A-413E-A2B3-5DC1A2003F90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99DBC-4371-9FDB-56F6-16A415977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AE7A7-8BCB-B035-1915-BBF92182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8E7EC-02F5-4C64-98F1-D1D12D414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794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B7BEB7-F4B8-3578-66D6-2B60A7C723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84505-792C-3AEF-5F1E-35875D8D3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6AEE6-EB24-B013-8380-7FC783560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83A9-7F7A-413E-A2B3-5DC1A2003F90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06950-AF9D-C634-2833-6075E95A6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3B1AB-9A43-5ABF-768D-CA385C33B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8E7EC-02F5-4C64-98F1-D1D12D414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5348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4228EA-7C75-78D5-7AC3-E5433E750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BF28C-DE7C-A0FE-44B0-B84F738A0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5E10D-1786-CCCE-7541-D2B40D4EBE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E283A9-7F7A-413E-A2B3-5DC1A2003F90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BD209-D35C-19C4-6E25-80C426A52F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D81A5-40DF-9B9F-CE39-0905D9E100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98E7EC-02F5-4C64-98F1-D1D12D414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533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24432/C5K306" TargetMode="Externa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s and charts">
            <a:extLst>
              <a:ext uri="{FF2B5EF4-FFF2-40B4-BE49-F238E27FC236}">
                <a16:creationId xmlns:a16="http://schemas.microsoft.com/office/drawing/2014/main" id="{FB1F6524-BAA7-8277-D543-CFBCDF24E8E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312"/>
            <a:ext cx="12192000" cy="64293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6496EFD-E0AA-1038-9D9C-CF65D3ADCAD0}"/>
              </a:ext>
            </a:extLst>
          </p:cNvPr>
          <p:cNvSpPr/>
          <p:nvPr/>
        </p:nvSpPr>
        <p:spPr>
          <a:xfrm>
            <a:off x="0" y="2575037"/>
            <a:ext cx="12192000" cy="170792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822F53-0814-6E95-8095-7F9491D52055}"/>
              </a:ext>
            </a:extLst>
          </p:cNvPr>
          <p:cNvSpPr txBox="1"/>
          <p:nvPr/>
        </p:nvSpPr>
        <p:spPr>
          <a:xfrm>
            <a:off x="1416050" y="3013500"/>
            <a:ext cx="9359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/>
              <a:t>Bank Marketing Prediction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0A11A3-722B-948B-4CE4-0683E51D9F99}"/>
              </a:ext>
            </a:extLst>
          </p:cNvPr>
          <p:cNvSpPr txBox="1"/>
          <p:nvPr/>
        </p:nvSpPr>
        <p:spPr>
          <a:xfrm>
            <a:off x="4368800" y="6274354"/>
            <a:ext cx="345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Portfolio Project</a:t>
            </a:r>
          </a:p>
        </p:txBody>
      </p:sp>
    </p:spTree>
    <p:extLst>
      <p:ext uri="{BB962C8B-B14F-4D97-AF65-F5344CB8AC3E}">
        <p14:creationId xmlns:p14="http://schemas.microsoft.com/office/powerpoint/2010/main" val="2857287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D56147-B9D2-B38B-AA85-9EC8C06F8099}"/>
              </a:ext>
            </a:extLst>
          </p:cNvPr>
          <p:cNvSpPr/>
          <p:nvPr/>
        </p:nvSpPr>
        <p:spPr>
          <a:xfrm>
            <a:off x="0" y="0"/>
            <a:ext cx="12192000" cy="120226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97ECCC-FD64-836B-A2D6-6FC83556C4C1}"/>
              </a:ext>
            </a:extLst>
          </p:cNvPr>
          <p:cNvSpPr txBox="1"/>
          <p:nvPr/>
        </p:nvSpPr>
        <p:spPr>
          <a:xfrm>
            <a:off x="27517" y="185634"/>
            <a:ext cx="51202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/>
              <a:t>Project Overview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849D7C-8F39-6E98-45E3-0F0D106B2A91}"/>
              </a:ext>
            </a:extLst>
          </p:cNvPr>
          <p:cNvSpPr/>
          <p:nvPr/>
        </p:nvSpPr>
        <p:spPr>
          <a:xfrm>
            <a:off x="270934" y="1557866"/>
            <a:ext cx="5181601" cy="233680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DC1186F-4BAA-2711-1C4F-AEB471DEA3A1}"/>
              </a:ext>
            </a:extLst>
          </p:cNvPr>
          <p:cNvSpPr/>
          <p:nvPr/>
        </p:nvSpPr>
        <p:spPr>
          <a:xfrm>
            <a:off x="5729024" y="1557866"/>
            <a:ext cx="6259776" cy="50292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2256D1C-26D8-5E70-6972-8A9D9EBED984}"/>
              </a:ext>
            </a:extLst>
          </p:cNvPr>
          <p:cNvSpPr/>
          <p:nvPr/>
        </p:nvSpPr>
        <p:spPr>
          <a:xfrm>
            <a:off x="270934" y="4250266"/>
            <a:ext cx="5181601" cy="233680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Graphic 15" descr="Bullseye with solid fill">
            <a:extLst>
              <a:ext uri="{FF2B5EF4-FFF2-40B4-BE49-F238E27FC236}">
                <a16:creationId xmlns:a16="http://schemas.microsoft.com/office/drawing/2014/main" id="{228FD41D-CDF2-1CE3-21CF-10F403431D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7675" y="1700740"/>
            <a:ext cx="683684" cy="683684"/>
          </a:xfrm>
          <a:prstGeom prst="rect">
            <a:avLst/>
          </a:prstGeom>
        </p:spPr>
      </p:pic>
      <p:pic>
        <p:nvPicPr>
          <p:cNvPr id="18" name="Graphic 17" descr="Tools with solid fill">
            <a:extLst>
              <a:ext uri="{FF2B5EF4-FFF2-40B4-BE49-F238E27FC236}">
                <a16:creationId xmlns:a16="http://schemas.microsoft.com/office/drawing/2014/main" id="{07C34612-B1A3-E094-7F91-CC03AD6588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423" y="4407695"/>
            <a:ext cx="484187" cy="484187"/>
          </a:xfrm>
          <a:prstGeom prst="rect">
            <a:avLst/>
          </a:prstGeom>
        </p:spPr>
      </p:pic>
      <p:pic>
        <p:nvPicPr>
          <p:cNvPr id="20" name="Graphic 19" descr="Information with solid fill">
            <a:extLst>
              <a:ext uri="{FF2B5EF4-FFF2-40B4-BE49-F238E27FC236}">
                <a16:creationId xmlns:a16="http://schemas.microsoft.com/office/drawing/2014/main" id="{88241630-E9DF-AEBD-0EA1-449DB6365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00890" y="1826322"/>
            <a:ext cx="635000" cy="635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116D296-991A-1327-7574-BA91874BD822}"/>
              </a:ext>
            </a:extLst>
          </p:cNvPr>
          <p:cNvSpPr txBox="1"/>
          <p:nvPr/>
        </p:nvSpPr>
        <p:spPr>
          <a:xfrm>
            <a:off x="1165225" y="1715557"/>
            <a:ext cx="2681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Project Goal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53168B-3F5B-2EED-72CA-8093C1701170}"/>
              </a:ext>
            </a:extLst>
          </p:cNvPr>
          <p:cNvSpPr txBox="1"/>
          <p:nvPr/>
        </p:nvSpPr>
        <p:spPr>
          <a:xfrm>
            <a:off x="1165225" y="4357400"/>
            <a:ext cx="2681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Tools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DC6908-F933-AF19-B2EB-387E39E116B6}"/>
              </a:ext>
            </a:extLst>
          </p:cNvPr>
          <p:cNvSpPr txBox="1"/>
          <p:nvPr/>
        </p:nvSpPr>
        <p:spPr>
          <a:xfrm>
            <a:off x="7891993" y="1830775"/>
            <a:ext cx="2681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Dataset Info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F95D01-3211-C23B-0B2C-6411E8117A99}"/>
              </a:ext>
            </a:extLst>
          </p:cNvPr>
          <p:cNvSpPr txBox="1"/>
          <p:nvPr/>
        </p:nvSpPr>
        <p:spPr>
          <a:xfrm>
            <a:off x="547423" y="2384424"/>
            <a:ext cx="46003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To predict whether a client will respond to a marketing campaign and subscribe to a term deposit.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B8F64A-0C77-E35B-2177-F31146924D92}"/>
              </a:ext>
            </a:extLst>
          </p:cNvPr>
          <p:cNvSpPr txBox="1"/>
          <p:nvPr/>
        </p:nvSpPr>
        <p:spPr>
          <a:xfrm>
            <a:off x="547423" y="5139310"/>
            <a:ext cx="46003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Python (pandas, NumPy, seaborn, matplotlib, sci-kit learn)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27AEFD-92E0-4B0E-17FE-251584018FD5}"/>
              </a:ext>
            </a:extLst>
          </p:cNvPr>
          <p:cNvSpPr txBox="1"/>
          <p:nvPr/>
        </p:nvSpPr>
        <p:spPr>
          <a:xfrm>
            <a:off x="6346826" y="2618462"/>
            <a:ext cx="539617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b="1" dirty="0"/>
              <a:t>Name: </a:t>
            </a:r>
            <a:r>
              <a:rPr lang="en-GB" sz="2200" dirty="0"/>
              <a:t>Bank Marketing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b="1" dirty="0"/>
              <a:t>Source: </a:t>
            </a:r>
            <a:r>
              <a:rPr lang="en-GB" sz="2200" dirty="0"/>
              <a:t>UCI Machine Learning Repository</a:t>
            </a:r>
            <a:endParaRPr lang="en-GB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b="1" dirty="0"/>
              <a:t>Citation: </a:t>
            </a:r>
            <a:r>
              <a:rPr lang="en-GB" sz="2200" dirty="0"/>
              <a:t>Moro, S., Cortez, P., &amp; Rita, P. (2014). A Data-Driven Approach to Predict the Success of Bank Telemarketing. </a:t>
            </a:r>
            <a:r>
              <a:rPr lang="en-GB" sz="2200" i="1" dirty="0"/>
              <a:t>Decision Support Systems</a:t>
            </a:r>
            <a:r>
              <a:rPr lang="en-GB" sz="2200" dirty="0"/>
              <a:t>, 62, 22–31.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b="1" dirty="0"/>
              <a:t>DOI</a:t>
            </a:r>
            <a:r>
              <a:rPr lang="en-GB" sz="2200" dirty="0"/>
              <a:t>: </a:t>
            </a:r>
            <a:r>
              <a:rPr lang="en-GB" sz="2200" dirty="0">
                <a:hlinkClick r:id="rId5"/>
              </a:rPr>
              <a:t>https://doi.org/10.24432/C5K306</a:t>
            </a:r>
            <a:endParaRPr lang="en-GB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b="1" dirty="0"/>
              <a:t>License:</a:t>
            </a:r>
            <a:r>
              <a:rPr lang="en-GB" sz="2200" dirty="0"/>
              <a:t> CC BY 4.0</a:t>
            </a:r>
          </a:p>
        </p:txBody>
      </p:sp>
    </p:spTree>
    <p:extLst>
      <p:ext uri="{BB962C8B-B14F-4D97-AF65-F5344CB8AC3E}">
        <p14:creationId xmlns:p14="http://schemas.microsoft.com/office/powerpoint/2010/main" val="4052626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59709B2-2F94-6F0F-48E3-4FDD125D0941}"/>
              </a:ext>
            </a:extLst>
          </p:cNvPr>
          <p:cNvSpPr/>
          <p:nvPr/>
        </p:nvSpPr>
        <p:spPr>
          <a:xfrm>
            <a:off x="0" y="0"/>
            <a:ext cx="12192000" cy="120226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1AD713-C623-8BDF-9C7B-71A09E5C578B}"/>
              </a:ext>
            </a:extLst>
          </p:cNvPr>
          <p:cNvSpPr txBox="1"/>
          <p:nvPr/>
        </p:nvSpPr>
        <p:spPr>
          <a:xfrm>
            <a:off x="0" y="185634"/>
            <a:ext cx="51202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/>
              <a:t>Project Workflow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CDA50D-CC41-5FA1-248C-1644CC33FCC4}"/>
              </a:ext>
            </a:extLst>
          </p:cNvPr>
          <p:cNvSpPr/>
          <p:nvPr/>
        </p:nvSpPr>
        <p:spPr>
          <a:xfrm>
            <a:off x="1585608" y="2648182"/>
            <a:ext cx="1932896" cy="124989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C8C068-6A4A-8927-262F-0BC97DB7068F}"/>
              </a:ext>
            </a:extLst>
          </p:cNvPr>
          <p:cNvSpPr/>
          <p:nvPr/>
        </p:nvSpPr>
        <p:spPr>
          <a:xfrm>
            <a:off x="3930877" y="2648182"/>
            <a:ext cx="1932896" cy="1249892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9FA741C-6330-13BE-7206-0A406A59BFC7}"/>
              </a:ext>
            </a:extLst>
          </p:cNvPr>
          <p:cNvSpPr/>
          <p:nvPr/>
        </p:nvSpPr>
        <p:spPr>
          <a:xfrm>
            <a:off x="6276146" y="2648182"/>
            <a:ext cx="1932896" cy="124989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 descr="Exploratory analysis - Free business and finance icons">
            <a:extLst>
              <a:ext uri="{FF2B5EF4-FFF2-40B4-BE49-F238E27FC236}">
                <a16:creationId xmlns:a16="http://schemas.microsoft.com/office/drawing/2014/main" id="{934B987B-D56C-0D3A-BE56-F5B773B58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250" y="2751131"/>
            <a:ext cx="1005541" cy="10055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DF1F59-D629-440A-84E0-E3AC51BC8A30}"/>
              </a:ext>
            </a:extLst>
          </p:cNvPr>
          <p:cNvSpPr txBox="1"/>
          <p:nvPr/>
        </p:nvSpPr>
        <p:spPr>
          <a:xfrm>
            <a:off x="1679380" y="3978986"/>
            <a:ext cx="159835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Data Understanding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1A6EE-C861-8096-4F14-798BFC779967}"/>
              </a:ext>
            </a:extLst>
          </p:cNvPr>
          <p:cNvSpPr txBox="1"/>
          <p:nvPr/>
        </p:nvSpPr>
        <p:spPr>
          <a:xfrm>
            <a:off x="4113015" y="3911336"/>
            <a:ext cx="159835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EDA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76B4DD-3E98-0E96-F168-B20C5E84D3C4}"/>
              </a:ext>
            </a:extLst>
          </p:cNvPr>
          <p:cNvSpPr txBox="1"/>
          <p:nvPr/>
        </p:nvSpPr>
        <p:spPr>
          <a:xfrm>
            <a:off x="6458284" y="3911336"/>
            <a:ext cx="1598359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Preprocessing</a:t>
            </a:r>
          </a:p>
          <a:p>
            <a:pPr algn="ctr"/>
            <a:r>
              <a:rPr lang="en-GB" sz="1600" dirty="0"/>
              <a:t>&amp;</a:t>
            </a:r>
          </a:p>
          <a:p>
            <a:pPr algn="ctr"/>
            <a:r>
              <a:rPr lang="en-GB" sz="1600" dirty="0"/>
              <a:t>Data Cleaning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BCE2016-72F9-9589-12B5-7A38B7203D6F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518504" y="3273128"/>
            <a:ext cx="4123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B3B4D01-AA10-9081-341C-174F56F68EAC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863773" y="3273128"/>
            <a:ext cx="4123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Data cleaning - Free security icons">
            <a:extLst>
              <a:ext uri="{FF2B5EF4-FFF2-40B4-BE49-F238E27FC236}">
                <a16:creationId xmlns:a16="http://schemas.microsoft.com/office/drawing/2014/main" id="{51B59937-945B-8C74-2E43-BFBADD543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818" y="2750276"/>
            <a:ext cx="1045704" cy="1045704"/>
          </a:xfrm>
          <a:prstGeom prst="rect">
            <a:avLst/>
          </a:prstGeom>
        </p:spPr>
      </p:pic>
      <p:pic>
        <p:nvPicPr>
          <p:cNvPr id="18" name="Picture 17" descr="Preprocessing - Free icons">
            <a:extLst>
              <a:ext uri="{FF2B5EF4-FFF2-40B4-BE49-F238E27FC236}">
                <a16:creationId xmlns:a16="http://schemas.microsoft.com/office/drawing/2014/main" id="{EBC5AA3C-BE5C-0B37-4E60-2CDF586487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801981" y="2798419"/>
            <a:ext cx="910964" cy="910964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5793E98-6EFE-6EE5-BCDE-583AE9E6E1D2}"/>
              </a:ext>
            </a:extLst>
          </p:cNvPr>
          <p:cNvSpPr/>
          <p:nvPr/>
        </p:nvSpPr>
        <p:spPr>
          <a:xfrm>
            <a:off x="8582478" y="2648182"/>
            <a:ext cx="1932896" cy="124989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" name="Picture 19" descr="Machine learning - Free technology icons">
            <a:extLst>
              <a:ext uri="{FF2B5EF4-FFF2-40B4-BE49-F238E27FC236}">
                <a16:creationId xmlns:a16="http://schemas.microsoft.com/office/drawing/2014/main" id="{D56EA624-B7FB-9EF1-B8C0-57FAABC343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6547" y="2790986"/>
            <a:ext cx="884757" cy="88475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B3E6850-1893-D8A8-D003-046DD229BEE8}"/>
              </a:ext>
            </a:extLst>
          </p:cNvPr>
          <p:cNvSpPr txBox="1"/>
          <p:nvPr/>
        </p:nvSpPr>
        <p:spPr>
          <a:xfrm>
            <a:off x="8739911" y="3939518"/>
            <a:ext cx="1598359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Model Evaluation &amp; Selection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302FD7C-8C0B-7D32-0552-ABB6932BAD9D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8209042" y="3273128"/>
            <a:ext cx="3734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306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BC946C-A3E0-423C-21CC-25947F1F1C59}"/>
              </a:ext>
            </a:extLst>
          </p:cNvPr>
          <p:cNvSpPr/>
          <p:nvPr/>
        </p:nvSpPr>
        <p:spPr>
          <a:xfrm>
            <a:off x="0" y="0"/>
            <a:ext cx="12192000" cy="120226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5ADB58-FBA4-E04E-EB51-E376BB9EBD8C}"/>
              </a:ext>
            </a:extLst>
          </p:cNvPr>
          <p:cNvSpPr txBox="1"/>
          <p:nvPr/>
        </p:nvSpPr>
        <p:spPr>
          <a:xfrm>
            <a:off x="165100" y="185635"/>
            <a:ext cx="6362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/>
              <a:t>Data Understanding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77B96E-1875-2B2B-4FD2-725B6BA97B7A}"/>
              </a:ext>
            </a:extLst>
          </p:cNvPr>
          <p:cNvSpPr/>
          <p:nvPr/>
        </p:nvSpPr>
        <p:spPr>
          <a:xfrm>
            <a:off x="6096000" y="1387900"/>
            <a:ext cx="5930900" cy="528446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047077-476B-83E7-3D52-638F98F84C51}"/>
              </a:ext>
            </a:extLst>
          </p:cNvPr>
          <p:cNvSpPr txBox="1"/>
          <p:nvPr/>
        </p:nvSpPr>
        <p:spPr>
          <a:xfrm>
            <a:off x="1797050" y="1391500"/>
            <a:ext cx="1327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Steps: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2DB8FC-4F96-236C-B476-0CE8E46F0A28}"/>
              </a:ext>
            </a:extLst>
          </p:cNvPr>
          <p:cNvSpPr txBox="1"/>
          <p:nvPr/>
        </p:nvSpPr>
        <p:spPr>
          <a:xfrm>
            <a:off x="8199437" y="1391500"/>
            <a:ext cx="1724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Findings: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3E93B1-D112-8AFF-A9D7-00EDFB5B5ACB}"/>
              </a:ext>
            </a:extLst>
          </p:cNvPr>
          <p:cNvSpPr txBox="1"/>
          <p:nvPr/>
        </p:nvSpPr>
        <p:spPr>
          <a:xfrm>
            <a:off x="165100" y="2103953"/>
            <a:ext cx="5689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Number of rows &amp;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Checked column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Print data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Check summary statistics of numerical columns (identifies any outliers)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Check for missing values/empty strings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Check for duplicated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Check for unique variables in categorical columns (any mistyped words/unexpected values)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Check the target balance by seeing how many  rows are ‘no’ vs ‘</a:t>
            </a:r>
            <a:r>
              <a:rPr lang="en-GB" sz="2200" dirty="0" err="1"/>
              <a:t>yes’</a:t>
            </a:r>
            <a:endParaRPr lang="en-GB" sz="2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779FA4-F708-0833-65E9-6FD37ADEC3E0}"/>
              </a:ext>
            </a:extLst>
          </p:cNvPr>
          <p:cNvSpPr txBox="1"/>
          <p:nvPr/>
        </p:nvSpPr>
        <p:spPr>
          <a:xfrm>
            <a:off x="6392829" y="2103953"/>
            <a:ext cx="5689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i="1" dirty="0"/>
              <a:t>No. of rows: </a:t>
            </a:r>
            <a:r>
              <a:rPr lang="en-GB" sz="2200" dirty="0"/>
              <a:t>45,211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i="1" dirty="0"/>
              <a:t>No. of columns: </a:t>
            </a:r>
            <a:r>
              <a:rPr lang="en-GB" sz="2200" dirty="0"/>
              <a:t>17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No missing values/empty strings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No duplicated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Data types correct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Several categorical columns contain “unknown” category.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Some numeric columns show wide ranges (indicates the presence of extreme values).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The target variable is imbalanced (more “no” than “yes”)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154424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B7661-29E3-70B7-C102-A180DBEFD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199" y="1641474"/>
            <a:ext cx="5638801" cy="49117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/>
              <a:t>Findings:</a:t>
            </a:r>
          </a:p>
          <a:p>
            <a:r>
              <a:rPr lang="en-GB" sz="2400" dirty="0"/>
              <a:t>Numeric features are right skewed with valid but extreme outliers, especially in balance and duration.</a:t>
            </a:r>
          </a:p>
          <a:p>
            <a:r>
              <a:rPr lang="en-GB" sz="2400" dirty="0"/>
              <a:t>Duration has the strongest correlation to the target and strongly separates target classes - should be removed due to leakage.</a:t>
            </a:r>
          </a:p>
          <a:p>
            <a:r>
              <a:rPr lang="en-GB" sz="2400" dirty="0"/>
              <a:t>The target is highly imbalanced which should be handled during preprocessing.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CB520C-1457-8E22-2343-5E4AADF2B962}"/>
              </a:ext>
            </a:extLst>
          </p:cNvPr>
          <p:cNvSpPr/>
          <p:nvPr/>
        </p:nvSpPr>
        <p:spPr>
          <a:xfrm>
            <a:off x="0" y="0"/>
            <a:ext cx="12192000" cy="120226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7F1EAF-9B9E-E383-7367-058C1A2039EF}"/>
              </a:ext>
            </a:extLst>
          </p:cNvPr>
          <p:cNvSpPr txBox="1"/>
          <p:nvPr/>
        </p:nvSpPr>
        <p:spPr>
          <a:xfrm>
            <a:off x="203199" y="185634"/>
            <a:ext cx="8486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/>
              <a:t>Exploratory Data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C25939-C2D3-4EF8-B426-4EA80FB20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510" y="1202265"/>
            <a:ext cx="3420532" cy="31433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8A249E-B9CD-A703-B4DB-D88DF2F16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553" y="4260717"/>
            <a:ext cx="5772447" cy="259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99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506F8B0-B092-0333-DE4C-E3479CA3A736}"/>
              </a:ext>
            </a:extLst>
          </p:cNvPr>
          <p:cNvSpPr/>
          <p:nvPr/>
        </p:nvSpPr>
        <p:spPr>
          <a:xfrm>
            <a:off x="0" y="0"/>
            <a:ext cx="12192000" cy="120226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A0E9E-B123-BEEB-311A-F490F212577E}"/>
              </a:ext>
            </a:extLst>
          </p:cNvPr>
          <p:cNvSpPr txBox="1"/>
          <p:nvPr/>
        </p:nvSpPr>
        <p:spPr>
          <a:xfrm>
            <a:off x="33866" y="185634"/>
            <a:ext cx="8486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/>
              <a:t>Preprocessing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CEA40-B47D-0626-8260-99887434B21E}"/>
              </a:ext>
            </a:extLst>
          </p:cNvPr>
          <p:cNvSpPr txBox="1"/>
          <p:nvPr/>
        </p:nvSpPr>
        <p:spPr>
          <a:xfrm>
            <a:off x="0" y="1362075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Data Cleaning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CCADA7-FFAC-7904-9CBE-4DE5EFD49D7A}"/>
              </a:ext>
            </a:extLst>
          </p:cNvPr>
          <p:cNvCxnSpPr/>
          <p:nvPr/>
        </p:nvCxnSpPr>
        <p:spPr>
          <a:xfrm>
            <a:off x="0" y="1823740"/>
            <a:ext cx="52292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9BF47C-2A4C-D1AC-4161-E5D2C576A1C2}"/>
              </a:ext>
            </a:extLst>
          </p:cNvPr>
          <p:cNvSpPr txBox="1"/>
          <p:nvPr/>
        </p:nvSpPr>
        <p:spPr>
          <a:xfrm>
            <a:off x="6181724" y="1362074"/>
            <a:ext cx="3305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Feature Engineering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40B545-26CD-38C8-A5FC-81229DDFCDA7}"/>
              </a:ext>
            </a:extLst>
          </p:cNvPr>
          <p:cNvCxnSpPr>
            <a:cxnSpLocks/>
          </p:cNvCxnSpPr>
          <p:nvPr/>
        </p:nvCxnSpPr>
        <p:spPr>
          <a:xfrm>
            <a:off x="6181724" y="1818678"/>
            <a:ext cx="602932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AC052BF-A809-A32C-1755-C0E8E6736622}"/>
              </a:ext>
            </a:extLst>
          </p:cNvPr>
          <p:cNvSpPr txBox="1"/>
          <p:nvPr/>
        </p:nvSpPr>
        <p:spPr>
          <a:xfrm>
            <a:off x="-1" y="1971675"/>
            <a:ext cx="58578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Steps:</a:t>
            </a:r>
          </a:p>
          <a:p>
            <a:endParaRPr lang="en-GB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Remove ‘Duration’ column to prevent data leakage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Check for missing values and duplicates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After removal of ‘Duration’ column, 16 duplicates were found and removed to stop dataset distortion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/>
              <a:t>Log </a:t>
            </a:r>
            <a:r>
              <a:rPr lang="en-GB" sz="2400" dirty="0"/>
              <a:t>transform skewed numeric columns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66E27F-5D76-7A3C-5ADF-1408E8F90971}"/>
              </a:ext>
            </a:extLst>
          </p:cNvPr>
          <p:cNvSpPr txBox="1"/>
          <p:nvPr/>
        </p:nvSpPr>
        <p:spPr>
          <a:xfrm>
            <a:off x="6181724" y="1971675"/>
            <a:ext cx="575627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Columns added:</a:t>
            </a:r>
          </a:p>
          <a:p>
            <a:endParaRPr lang="en-GB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‘contacted_before’ </a:t>
            </a:r>
            <a:r>
              <a:rPr lang="en-GB" sz="2400" dirty="0"/>
              <a:t>= converted pdays column into a binary feature </a:t>
            </a:r>
            <a:r>
              <a:rPr lang="en-GB" sz="2400" i="1" dirty="0"/>
              <a:t>(-1 = not previously contacted; 0 = no previous contact; 1 = contacted)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‘age_bucket’ </a:t>
            </a:r>
            <a:r>
              <a:rPr lang="en-GB" sz="2400" dirty="0"/>
              <a:t>=  ‘young’, ‘middle’, ‘senior’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‘balance_positive’ </a:t>
            </a:r>
            <a:r>
              <a:rPr lang="en-GB" sz="2400" dirty="0"/>
              <a:t>= balance is bigger than 0 =&gt;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‘long_campaign’ </a:t>
            </a:r>
            <a:r>
              <a:rPr lang="en-GB" sz="2400" dirty="0"/>
              <a:t>= for number of contacts longer than 15 days</a:t>
            </a:r>
            <a:endParaRPr lang="en-GB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089413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98012-296A-18F2-D7DF-3AAAA7F5B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7901"/>
            <a:ext cx="10515600" cy="578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To prevent data leakage, an automated pipeline was used.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BA4F76-54BF-D385-244C-FCA56A9E5171}"/>
              </a:ext>
            </a:extLst>
          </p:cNvPr>
          <p:cNvSpPr/>
          <p:nvPr/>
        </p:nvSpPr>
        <p:spPr>
          <a:xfrm>
            <a:off x="0" y="0"/>
            <a:ext cx="12192000" cy="120226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520D46-D013-1209-83A0-74C92BBCF301}"/>
              </a:ext>
            </a:extLst>
          </p:cNvPr>
          <p:cNvSpPr txBox="1"/>
          <p:nvPr/>
        </p:nvSpPr>
        <p:spPr>
          <a:xfrm>
            <a:off x="33866" y="185634"/>
            <a:ext cx="8486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/>
              <a:t>Preprocessing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34ED67-49E0-5D00-D565-9CF6CBF17356}"/>
              </a:ext>
            </a:extLst>
          </p:cNvPr>
          <p:cNvSpPr txBox="1"/>
          <p:nvPr/>
        </p:nvSpPr>
        <p:spPr>
          <a:xfrm>
            <a:off x="7686675" y="2124075"/>
            <a:ext cx="44100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StandardScaler() </a:t>
            </a:r>
            <a:r>
              <a:rPr lang="en-GB" dirty="0"/>
              <a:t>= As columns are normally distributed or log-transformed, ready for scaling.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OneHotEncoder()</a:t>
            </a:r>
            <a:r>
              <a:rPr lang="en-GB" dirty="0"/>
              <a:t> = To transform categorical data into binary columns, that is digestible by the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SMOTE() </a:t>
            </a:r>
            <a:r>
              <a:rPr lang="en-GB" dirty="0"/>
              <a:t>= Used for class imbalance and prevent model bias.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456B9E-B9F3-1FBD-DB8A-653D67E214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786"/>
          <a:stretch>
            <a:fillRect/>
          </a:stretch>
        </p:blipFill>
        <p:spPr>
          <a:xfrm>
            <a:off x="0" y="1966809"/>
            <a:ext cx="7677189" cy="346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154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23359D6-ABFA-2C13-95FF-0F3F8656D99B}"/>
              </a:ext>
            </a:extLst>
          </p:cNvPr>
          <p:cNvSpPr/>
          <p:nvPr/>
        </p:nvSpPr>
        <p:spPr>
          <a:xfrm>
            <a:off x="0" y="0"/>
            <a:ext cx="12192000" cy="120226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DD812C-EB25-F420-F09F-D0D635F0C128}"/>
              </a:ext>
            </a:extLst>
          </p:cNvPr>
          <p:cNvSpPr txBox="1"/>
          <p:nvPr/>
        </p:nvSpPr>
        <p:spPr>
          <a:xfrm>
            <a:off x="33866" y="185634"/>
            <a:ext cx="8486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/>
              <a:t>Baseline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51283E-8A1B-3BD0-4C5D-5217044C754D}"/>
              </a:ext>
            </a:extLst>
          </p:cNvPr>
          <p:cNvSpPr txBox="1"/>
          <p:nvPr/>
        </p:nvSpPr>
        <p:spPr>
          <a:xfrm>
            <a:off x="220133" y="1405467"/>
            <a:ext cx="11785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Logistic Regression: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Logistic regression was chosen as a baseline model to compare to more complex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Reasons: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Logistic regression is easy to understand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Fast to train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Stable and predictable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Therefore, advanced models should outperform logistic regression.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410572-BD67-DD33-562A-6BA2801F9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014" y="4821787"/>
            <a:ext cx="5401838" cy="198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741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2EA9D84-1372-0E12-EE97-3DEC274AE8A0}"/>
              </a:ext>
            </a:extLst>
          </p:cNvPr>
          <p:cNvSpPr/>
          <p:nvPr/>
        </p:nvSpPr>
        <p:spPr>
          <a:xfrm>
            <a:off x="0" y="0"/>
            <a:ext cx="12192000" cy="120226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A81103-3CD1-5481-B510-2582A2DCDA31}"/>
              </a:ext>
            </a:extLst>
          </p:cNvPr>
          <p:cNvSpPr txBox="1"/>
          <p:nvPr/>
        </p:nvSpPr>
        <p:spPr>
          <a:xfrm>
            <a:off x="33866" y="185634"/>
            <a:ext cx="8486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/>
              <a:t>Advanced Models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8237F5-8581-CEF2-156F-F6A57BAF5348}"/>
              </a:ext>
            </a:extLst>
          </p:cNvPr>
          <p:cNvSpPr txBox="1"/>
          <p:nvPr/>
        </p:nvSpPr>
        <p:spPr>
          <a:xfrm>
            <a:off x="200025" y="1543049"/>
            <a:ext cx="3924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Random Forest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EAD-910C-40B2-6973-928F1B42EBFF}"/>
              </a:ext>
            </a:extLst>
          </p:cNvPr>
          <p:cNvSpPr txBox="1"/>
          <p:nvPr/>
        </p:nvSpPr>
        <p:spPr>
          <a:xfrm>
            <a:off x="8067675" y="1543049"/>
            <a:ext cx="3924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XGBoost Model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E509953-1E75-84DD-3066-68EAF29F2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0" y="241087"/>
            <a:ext cx="4385734" cy="57890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2400" dirty="0"/>
              <a:t>RandomizedSearchCV() was used for hyperparameter tuning.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4E37B83-4349-9DA5-06D8-905773A07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7" y="2257387"/>
            <a:ext cx="5178114" cy="183309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870F719-2375-4CCA-8EA8-0DCB80F4D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62" y="4243210"/>
            <a:ext cx="3476763" cy="261479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8E5B744-43D8-9841-FDBC-05AA82B92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1" y="2257388"/>
            <a:ext cx="5163092" cy="183309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9D980B7-C918-275D-2192-2E69A7AF2D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7877" y="4090486"/>
            <a:ext cx="3603761" cy="272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395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ED3B31-A463-C59D-60C1-E7D8F0639BA0}"/>
              </a:ext>
            </a:extLst>
          </p:cNvPr>
          <p:cNvSpPr/>
          <p:nvPr/>
        </p:nvSpPr>
        <p:spPr>
          <a:xfrm>
            <a:off x="0" y="0"/>
            <a:ext cx="12192000" cy="120226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0B6E32-0FE5-83E7-97C6-4CCD25BE4BC6}"/>
              </a:ext>
            </a:extLst>
          </p:cNvPr>
          <p:cNvSpPr txBox="1"/>
          <p:nvPr/>
        </p:nvSpPr>
        <p:spPr>
          <a:xfrm>
            <a:off x="33866" y="185634"/>
            <a:ext cx="9567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/>
              <a:t>Model Comparison &amp; Selection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17A790-D01B-BDA2-47E3-FDB11CA0F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044" y="1387901"/>
            <a:ext cx="6647912" cy="21381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93575C5-38BD-A821-09F3-4564A45ACBB5}"/>
              </a:ext>
            </a:extLst>
          </p:cNvPr>
          <p:cNvSpPr txBox="1"/>
          <p:nvPr/>
        </p:nvSpPr>
        <p:spPr>
          <a:xfrm>
            <a:off x="0" y="3429000"/>
            <a:ext cx="121919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Selected Model: Random Forest</a:t>
            </a:r>
          </a:p>
          <a:p>
            <a:endParaRPr lang="en-GB" b="1" dirty="0"/>
          </a:p>
          <a:p>
            <a:r>
              <a:rPr lang="en-GB" b="1" dirty="0"/>
              <a:t>Reasoning: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Has the best overall balance when predicting the “yes”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Whilst logistic regression and XGBoost excel in one evaluation metric each, neither has the balance needed for effective targeting.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Random Forest Model is an example of a balanced trade-off – precision, recall, and F1 are all important to goal, therefore need a model that performs consistently across all metrics.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Although precision, recall, and F1-score is below 0.55 for the “yes” class – this is expected for imbalanced classification problems.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Random Forest is the model that is the most dependable for identifying likely responders and supporting targeted marketing decisions.</a:t>
            </a:r>
          </a:p>
        </p:txBody>
      </p:sp>
    </p:spTree>
    <p:extLst>
      <p:ext uri="{BB962C8B-B14F-4D97-AF65-F5344CB8AC3E}">
        <p14:creationId xmlns:p14="http://schemas.microsoft.com/office/powerpoint/2010/main" val="4129165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21516D-7A39-37CD-E1F0-58CD19BB72C7}"/>
              </a:ext>
            </a:extLst>
          </p:cNvPr>
          <p:cNvSpPr/>
          <p:nvPr/>
        </p:nvSpPr>
        <p:spPr>
          <a:xfrm>
            <a:off x="0" y="0"/>
            <a:ext cx="12192000" cy="120226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3E17EC-6BE1-60D0-10AF-797038D6770A}"/>
              </a:ext>
            </a:extLst>
          </p:cNvPr>
          <p:cNvSpPr txBox="1"/>
          <p:nvPr/>
        </p:nvSpPr>
        <p:spPr>
          <a:xfrm>
            <a:off x="33865" y="185634"/>
            <a:ext cx="119718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/>
              <a:t>Random Forest Model: Feature Importance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C8405D-83F7-CAB3-E1C7-CCD4A7E65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970" y="1387901"/>
            <a:ext cx="8187497" cy="32080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B26DBE6-1B06-F81F-EECC-6DEB8BC38A03}"/>
              </a:ext>
            </a:extLst>
          </p:cNvPr>
          <p:cNvSpPr txBox="1"/>
          <p:nvPr/>
        </p:nvSpPr>
        <p:spPr>
          <a:xfrm>
            <a:off x="711200" y="4792133"/>
            <a:ext cx="10769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Feature Importance: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model focuses primarily on </a:t>
            </a:r>
            <a:r>
              <a:rPr lang="en-GB" b="1" dirty="0"/>
              <a:t>balance_log</a:t>
            </a:r>
            <a:r>
              <a:rPr lang="en-GB" dirty="0"/>
              <a:t>, </a:t>
            </a:r>
            <a:r>
              <a:rPr lang="en-GB" b="1" dirty="0"/>
              <a:t>age</a:t>
            </a:r>
            <a:r>
              <a:rPr lang="en-GB" dirty="0"/>
              <a:t>, and </a:t>
            </a:r>
            <a:r>
              <a:rPr lang="en-GB" b="1" dirty="0"/>
              <a:t>poutcome_success</a:t>
            </a:r>
            <a:r>
              <a:rPr lang="en-GB" dirty="0"/>
              <a:t>. This suggests that financial stability, demographic factors, and past campaign outcomes are the driving power behind predictions.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Contact_type</a:t>
            </a:r>
            <a:r>
              <a:rPr lang="en-GB" dirty="0"/>
              <a:t>, </a:t>
            </a:r>
            <a:r>
              <a:rPr lang="en-GB" b="1" dirty="0"/>
              <a:t>previous_log</a:t>
            </a:r>
            <a:r>
              <a:rPr lang="en-GB" dirty="0"/>
              <a:t>, and </a:t>
            </a:r>
            <a:r>
              <a:rPr lang="en-GB" b="1" dirty="0"/>
              <a:t>month_may </a:t>
            </a:r>
            <a:r>
              <a:rPr lang="en-GB" dirty="0"/>
              <a:t>also matter, suggesting that communication strategy and timing influence the model’s decisions more than job or marital status.</a:t>
            </a:r>
          </a:p>
        </p:txBody>
      </p:sp>
    </p:spTree>
    <p:extLst>
      <p:ext uri="{BB962C8B-B14F-4D97-AF65-F5344CB8AC3E}">
        <p14:creationId xmlns:p14="http://schemas.microsoft.com/office/powerpoint/2010/main" val="2484985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1ADCAC-2636-4721-AC41-9B2B6FDF10F0}"/>
              </a:ext>
            </a:extLst>
          </p:cNvPr>
          <p:cNvSpPr/>
          <p:nvPr/>
        </p:nvSpPr>
        <p:spPr>
          <a:xfrm>
            <a:off x="0" y="0"/>
            <a:ext cx="12192000" cy="120226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46DB49-4110-ACB9-907D-0F241ADC3C91}"/>
              </a:ext>
            </a:extLst>
          </p:cNvPr>
          <p:cNvSpPr txBox="1"/>
          <p:nvPr/>
        </p:nvSpPr>
        <p:spPr>
          <a:xfrm>
            <a:off x="33865" y="185634"/>
            <a:ext cx="119718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/>
              <a:t>Random Forest Model: LIME Explainability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566ECE-541B-93FD-A931-7BD3174EF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432" y="1955800"/>
            <a:ext cx="9084733" cy="2946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F343C80-1405-803A-0DB6-0ED4A60AC23F}"/>
              </a:ext>
            </a:extLst>
          </p:cNvPr>
          <p:cNvSpPr txBox="1"/>
          <p:nvPr/>
        </p:nvSpPr>
        <p:spPr>
          <a:xfrm>
            <a:off x="104775" y="1464760"/>
            <a:ext cx="4086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Correctly Predicted Case: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CB012F-C1EE-1E9B-B6A3-3867E61054C6}"/>
              </a:ext>
            </a:extLst>
          </p:cNvPr>
          <p:cNvSpPr txBox="1"/>
          <p:nvPr/>
        </p:nvSpPr>
        <p:spPr>
          <a:xfrm>
            <a:off x="1028698" y="5143500"/>
            <a:ext cx="998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model shows a 65% confidence in its positive prediction.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Features, such as the last contact month of July and days since contact, are main drivers in swaying the prediction of the model.</a:t>
            </a:r>
          </a:p>
        </p:txBody>
      </p:sp>
    </p:spTree>
    <p:extLst>
      <p:ext uri="{BB962C8B-B14F-4D97-AF65-F5344CB8AC3E}">
        <p14:creationId xmlns:p14="http://schemas.microsoft.com/office/powerpoint/2010/main" val="1753263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7D3AE0-0930-8A00-D615-E6BAEC879C8B}"/>
              </a:ext>
            </a:extLst>
          </p:cNvPr>
          <p:cNvSpPr/>
          <p:nvPr/>
        </p:nvSpPr>
        <p:spPr>
          <a:xfrm>
            <a:off x="0" y="0"/>
            <a:ext cx="12192000" cy="120226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EB7079-F100-4FD2-1B19-1A02BBA208EF}"/>
              </a:ext>
            </a:extLst>
          </p:cNvPr>
          <p:cNvSpPr txBox="1"/>
          <p:nvPr/>
        </p:nvSpPr>
        <p:spPr>
          <a:xfrm>
            <a:off x="33865" y="185634"/>
            <a:ext cx="119718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/>
              <a:t>Random Forest Model: LIME Explainability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4B5C14-3EB1-5D16-C062-66530F323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828" y="1834092"/>
            <a:ext cx="9337942" cy="27454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C35BEC-FE4F-E20F-C718-1119E66584F7}"/>
              </a:ext>
            </a:extLst>
          </p:cNvPr>
          <p:cNvSpPr txBox="1"/>
          <p:nvPr/>
        </p:nvSpPr>
        <p:spPr>
          <a:xfrm>
            <a:off x="104775" y="1464760"/>
            <a:ext cx="4086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False Negative Case: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201F32-782F-C8E5-6725-F0056D35969B}"/>
              </a:ext>
            </a:extLst>
          </p:cNvPr>
          <p:cNvSpPr txBox="1"/>
          <p:nvPr/>
        </p:nvSpPr>
        <p:spPr>
          <a:xfrm>
            <a:off x="1028698" y="5143500"/>
            <a:ext cx="9982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model is 99% confident in its decision. This suggests that the model is highly over-confident.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There are big contributions from features, such as </a:t>
            </a:r>
            <a:r>
              <a:rPr lang="en-GB" b="1" dirty="0"/>
              <a:t>cat_month_aug</a:t>
            </a:r>
            <a:r>
              <a:rPr lang="en-GB" dirty="0"/>
              <a:t>, that push for a positive prediction. However, the model seems to begin with a very strong internal bias towards class 0 for this customer, and the positive contributions are not large enough to overcome this.</a:t>
            </a:r>
          </a:p>
        </p:txBody>
      </p:sp>
    </p:spTree>
    <p:extLst>
      <p:ext uri="{BB962C8B-B14F-4D97-AF65-F5344CB8AC3E}">
        <p14:creationId xmlns:p14="http://schemas.microsoft.com/office/powerpoint/2010/main" val="2856876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FE6B5-DB6E-B3E4-3CB1-639A19508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933" y="1778000"/>
            <a:ext cx="10574867" cy="4398963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Try other class imbalance techniques. Although this project uses SMOTE, techniques, such as random undertraining, might improve evaluation metrics.</a:t>
            </a:r>
          </a:p>
          <a:p>
            <a:endParaRPr lang="en-GB" dirty="0"/>
          </a:p>
          <a:p>
            <a:r>
              <a:rPr lang="en-GB" dirty="0"/>
              <a:t>Calibrate the model confidence – The model shows overconfidence and this could be improved through calibration curves and adjusting the decision threshold.</a:t>
            </a:r>
          </a:p>
          <a:p>
            <a:endParaRPr lang="en-GB" dirty="0"/>
          </a:p>
          <a:p>
            <a:r>
              <a:rPr lang="en-GB" dirty="0"/>
              <a:t>Feature engineering – create features to create stronger signals.</a:t>
            </a:r>
          </a:p>
          <a:p>
            <a:endParaRPr lang="en-GB" dirty="0"/>
          </a:p>
          <a:p>
            <a:r>
              <a:rPr lang="en-GB" dirty="0"/>
              <a:t>Try more advanced models (e.g. LightGBM) to improve evaluation metrics.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0A5A69-2FB6-1188-EFF4-E3F62D541F83}"/>
              </a:ext>
            </a:extLst>
          </p:cNvPr>
          <p:cNvSpPr/>
          <p:nvPr/>
        </p:nvSpPr>
        <p:spPr>
          <a:xfrm>
            <a:off x="0" y="0"/>
            <a:ext cx="12192000" cy="120226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6FAFD4-F6E4-DC9C-6DAA-3156A42C1578}"/>
              </a:ext>
            </a:extLst>
          </p:cNvPr>
          <p:cNvSpPr txBox="1"/>
          <p:nvPr/>
        </p:nvSpPr>
        <p:spPr>
          <a:xfrm>
            <a:off x="33865" y="185634"/>
            <a:ext cx="119718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/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437023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952</Words>
  <Application>Microsoft Office PowerPoint</Application>
  <PresentationFormat>Widescreen</PresentationFormat>
  <Paragraphs>112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Shivani Dave</dc:creator>
  <cp:lastModifiedBy>Shivani Dave</cp:lastModifiedBy>
  <cp:revision>9</cp:revision>
  <dcterms:created xsi:type="dcterms:W3CDTF">2026-09-06T11:47:16Z</dcterms:created>
  <dcterms:modified xsi:type="dcterms:W3CDTF">2026-10-14T12:35:54Z</dcterms:modified>
</cp:coreProperties>
</file>